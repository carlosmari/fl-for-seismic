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6327"/>
  </p:normalViewPr>
  <p:slideViewPr>
    <p:cSldViewPr snapToGrid="0" snapToObjects="1">
      <p:cViewPr varScale="1">
        <p:scale>
          <a:sx n="128" d="100"/>
          <a:sy n="128" d="100"/>
        </p:scale>
        <p:origin x="48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Memorise this opening; look at the audience, not the screen.</a:t>
            </a:r>
          </a:p>
          <a:p/>
          <a:p>
            <a:r>
              <a:t>'Federated learning promises a shared seismic interpreter that no one has to hand over their data for. Our paper asked whether it actually works. The answer was: not under real geography. Today I want to show you what we have learned since — including where we were wrong.'</a:t>
            </a:r>
          </a:p>
          <a:p/>
          <a:p>
            <a:r>
              <a:t>TIMING: 15-17 min talk, green light until 5 min remain.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Sixty seconds of motivation. Seismic data is the asset; it does not leave the company. Federated learning trains one model across partners by exchanging weights, never traces. That is the promise we set out to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setup that matters. Standard FL benchmarks shuffle data randomly across clients. Real partners each hold a contiguous region, so their facies distributions differ structurally.</a:t>
            </a:r>
          </a:p>
          <a:p/>
          <a:p>
            <a:r>
              <a:t>Read the chart left to right: centralised is the ceiling at 0.693. Shuffle the data randomly and federated learning essentially matches it — 0.686. Partition it geographically, the way the world actually looks, and it falls to 0.551.</a:t>
            </a:r>
          </a:p>
          <a:p/>
          <a:p>
            <a:r>
              <a:t>Parihaka and F3, six facies, UNet, up to 20 clients.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paper's sharpest result and worth a pause. Class 5, the rarest facies, reaches exactly 0.0 IoU once you have five or more clients. Not merely poor: the model stops predicting the class at all.</a:t>
            </a:r>
          </a:p>
          <a:p/>
          <a:p>
            <a:r>
              <a:t>Also worth stating: FedProx and FedBN, the standard fixes for client drift, made things worse — 1 to 12 percent. Plain FedAvg won. That tells you drift is not the problem.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paper's conclusion. Most clients hold no pixels of the rare facies. Averaging their weights dilutes the few clients that do — so the class is not learned badly, it is erased. That is why drift-correction methods did not help.</a:t>
            </a:r>
          </a:p>
          <a:p/>
          <a:p>
            <a:r>
              <a:t>This is the hinge of the talk. Everything after this slide is unpublished work asking: can that erasure be undone?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Signpost clearly and slow down here. Everything that follows postdates the submission.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Our most interesting finding, and it reframes the problem.</a:t>
            </a:r>
          </a:p>
          <a:p/>
          <a:p>
            <a:r>
              <a:t>Every dot is one training run — 45 of them. The rare facies either gets learned, around 0.2 to 0.3 IoU, or it collapses to exactly zero. Only three runs land anywhere in between.</a:t>
            </a:r>
          </a:p>
          <a:p/>
          <a:p>
            <a:r>
              <a:t>This is not ordinary variance; it is two attractors. Same code, same data, different random seed, opposite outcome. Method choice shifts the PROBABILITY of the good basin — it never removes the bad one.</a:t>
            </a:r>
          </a:p>
          <a:p/>
          <a:p>
            <a:r>
              <a:t>Implication: reporting a single run's number is close to meaningless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levers, each isolated, cumulative left to right.</a:t>
            </a:r>
          </a:p>
          <a:p/>
          <a:p>
            <a:r>
              <a:t>Aggregation: weight clients by how much rare-facies data they hold and how well they have learned it. Ensemble: average several seeds — which works precisely BECAUSE of the bistability we just saw; you are buying lottery tickets. Logit adjustment: a test-time correction, next slide.</a:t>
            </a:r>
          </a:p>
          <a:p/>
          <a:p>
            <a:r>
              <a:t>Together they close roughly 39 percent of the gap to centralised. Be honest that the ensemble step costs five to ten times the training compute.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Logit adjustment — MetaFusion, Chan 2019; Menon 2021. At inference, before the argmax, subtract tau times the log class prior from the logits. Frequent classes are penalised, so rare classes win more pixels.</a:t>
            </a:r>
          </a:p>
          <a:p/>
          <a:p>
            <a:r>
              <a:t>Three lines of code. No retraining. Works on any checkpoint you already have.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money slide. Say the numbers slowly, then stop talking for a beat.</a:t>
            </a:r>
          </a:p>
          <a:p/>
          <a:p>
            <a:r>
              <a:t>This is a checkpoint that had completely lost the rare facies — 0.008 IoU, effectively zero. One line of inference-time arithmetic brings it to 0.060. Seven and a half times. And mean IoU improves slightly at the same time, so it is not a trade.</a:t>
            </a:r>
          </a:p>
          <a:p/>
          <a:p>
            <a:r>
              <a:t>The headline failure from our paper is partly reversible, at zero training cost.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nuance, and it is what makes this a finding rather than a trick.</a:t>
            </a:r>
          </a:p>
          <a:p/>
          <a:p>
            <a:r>
              <a:t>Tau is not a constant. On a checkpoint that is merely majority-biased, a gentle correction — tau 0.5 — is best. On a checkpoint where the class has collapsed, you need tau 1.5. Push a healthy model that hard and you damage it.</a:t>
            </a:r>
          </a:p>
          <a:p/>
          <a:p>
            <a:r>
              <a:t>Practically: pick tau on a single held-out crossline. Essentially free.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Deliberate credibility slide. Volunteering this is far stronger than being asked it in Q&amp;A.</a:t>
            </a:r>
          </a:p>
          <a:p/>
          <a:p>
            <a:r>
              <a:t>We were saving the best round by test mIoU and reporting that number. That is optimistic — and, worse, unequally so: plus 0.018 for the baseline, plus 0.043 for our own best configuration.</a:t>
            </a:r>
          </a:p>
          <a:p/>
          <a:p>
            <a:r>
              <a:t>Corrected to final round, two of our claims flip. Our 'most stable' configuration is actually the least stable — one seed ends at 0.39 — and a simpler variant beats it.</a:t>
            </a:r>
          </a:p>
          <a:p/>
          <a:p>
            <a:r>
              <a:t>Say plainly: this is what the bistability does to anyone who reports a single best number, us included.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negative result, and a useful one — it answers the obvious question about our own paper.</a:t>
            </a:r>
          </a:p>
          <a:p/>
          <a:p>
            <a:r>
              <a:t>The hypothesis was reasonable: BatchNorm keeps running statistics fitted to each client's own data, and we average them across clients. That is a documented failure mode under non-IID conditions, and it would neatly explain why FedBN did nothing for us.</a:t>
            </a:r>
          </a:p>
          <a:p/>
          <a:p>
            <a:r>
              <a:t>So we tested it directly — GroupNorm, which has no cross-client statistics, everything else identical. It is a tenth of an IoU WORSE, every seed, no overlap between the two sets. And it does not rescue the rare class either.</a:t>
            </a:r>
          </a:p>
          <a:p/>
          <a:p>
            <a:r>
              <a:t>Why: our clients all hold slices of one survey, so the low-level statistics — amplitude, texture, frequency — are shared. BatchNorm exploits that. The non-IID-ness here is in WHICH FACIES APPEAR, not in the input distribution. That is the distinction the FL literature does not make.</a:t>
            </a:r>
          </a:p>
          <a:p/>
          <a:p>
            <a:r>
              <a:t>So: normalisation is not the lever. The absence of data is still the problem.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Tell them what you told them.</a:t>
            </a:r>
          </a:p>
          <a:p/>
          <a:p>
            <a:r>
              <a:t>One: the realistic setting, not the benchmark setting, is where federated learning breaks.</a:t>
            </a:r>
          </a:p>
          <a:p>
            <a:r>
              <a:t>Two: rare-class failure is an attractor problem, not a variance problem — which changes how anyone should report results here.</a:t>
            </a:r>
          </a:p>
          <a:p>
            <a:r>
              <a:t>Three: some of the damage undoes at inference, for free.</a:t>
            </a:r>
          </a:p>
          <a:p/>
          <a:p>
            <a:r>
              <a:t>Then invite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Anticipated questions:</a:t>
            </a:r>
          </a:p>
          <a:p/>
          <a:p>
            <a:r>
              <a:t>- 'Which mIoU?' Macro, unweighted, six classes.</a:t>
            </a:r>
          </a:p>
          <a:p>
            <a:r>
              <a:t>- 'Why did FedBN fail?' We tested it directly: GroupNorm is 0.10 IoU worse. Normalisation is not the lever — see that slide.</a:t>
            </a:r>
          </a:p>
          <a:p>
            <a:r>
              <a:t>- 'Did the rare-class aggregation help?' Honestly, no. Against a proper equal-weight control at n=5 it is within noise (0.5695 vs 0.5688).</a:t>
            </a:r>
          </a:p>
          <a:p>
            <a:r>
              <a:t>- 'What does ensembling cost?' 5-10x training. Logit adjustment is free by comparison.</a:t>
            </a:r>
          </a:p>
          <a:p>
            <a:r>
              <a:t>- 'Does this hold on F3?' New results are Parihaka only so far; F3 is next.</a:t>
            </a:r>
          </a:p>
          <a:p>
            <a:r>
              <a:t>- 'How do you pick tau without test data?' A held-out crossline from training.</a:t>
            </a:r>
          </a:p>
          <a:p>
            <a:r>
              <a:t>- 'Is the bistability a bug?' We looked. Same code and data, seed alone flips it — it is the optimisation landscape.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A2F827-A11C-614D-B379-C88612CC85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A088C8-4960-0242-8564-0206496FB9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19EB24-4D72-554B-B38A-398A387D62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C21204-CD5E-9B4A-975C-382619592633}" type="datetimeFigureOut">
              <a:rPr lang="en-US" smtClean="0"/>
              <a:t>5/1/23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2F17CD-80CA-2241-82AC-00757CAB94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F508A1-5D9B-8948-9954-6D9F4CE4FE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4DCF088-4A50-3B44-AC70-A3CBCDFB2F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76165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60A513-8C9E-B640-851C-1630B48458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2A9AE7-EB43-C647-8AA9-C416E1170C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6C547A-0B96-7845-9CBE-958EEAA9C5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C21204-CD5E-9B4A-975C-382619592633}" type="datetimeFigureOut">
              <a:rPr lang="en-US" smtClean="0"/>
              <a:t>5/1/23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449055-8C71-534A-908B-FDF9CCC8F7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417534-4005-894F-9B05-302B94E47B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4DCF088-4A50-3B44-AC70-A3CBCDFB2F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27813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20B56-A417-F046-8B3A-F1458C3F27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9A594D-E7D1-AA48-ADEB-57A4544F45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BE0D4C-F794-264F-8DF0-0DEB052FE6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C21204-CD5E-9B4A-975C-382619592633}" type="datetimeFigureOut">
              <a:rPr lang="en-US" smtClean="0"/>
              <a:t>5/1/23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BB1F26-1B9E-B34B-AE9C-82351B423C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FED092-4E64-B64A-98CA-F556FC6D23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4DCF088-4A50-3B44-AC70-A3CBCDFB2F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3215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F8D153-F489-7340-8DD5-8AED051FE9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9EF0C5-4572-A642-90C1-35197E97825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E7D5DC-FE08-CD4C-B37E-F73E309366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61810C-D931-2A45-BC51-83FE5E710B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C21204-CD5E-9B4A-975C-382619592633}" type="datetimeFigureOut">
              <a:rPr lang="en-US" smtClean="0"/>
              <a:t>5/1/23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14F366-EAA0-8748-A353-BAFB80547B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763763-7B7F-5045-ACBE-9BB4005C80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4DCF088-4A50-3B44-AC70-A3CBCDFB2F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0796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3A4143-65FF-F84D-A23D-9906EF9A0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20E253-3ED6-3F4B-9AC3-2550B004F2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D0C247-1DF3-6A44-B476-8C644D80BB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95AFFF5-0F58-A943-B9F8-53BE2A38F1A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8BF4850-5B54-424A-BF0D-2B7B09DE72F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B21E8B9-BDBB-784C-86DC-E5C9DAA4E8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C21204-CD5E-9B4A-975C-382619592633}" type="datetimeFigureOut">
              <a:rPr lang="en-US" smtClean="0"/>
              <a:t>5/1/23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F64FE79-6F13-C848-80C9-DE58EB329C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DD40CE9-F7E2-3644-B1CC-3BAB5219C1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4DCF088-4A50-3B44-AC70-A3CBCDFB2F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90484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12E1FF-A198-AC42-8AC4-8E35F4240A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53DC3A8-7858-C347-A3F3-17B25B2618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C21204-CD5E-9B4A-975C-382619592633}" type="datetimeFigureOut">
              <a:rPr lang="en-US" smtClean="0"/>
              <a:t>5/1/23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9599C0-2540-854C-A1B1-AC32113830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AA22480-2054-0E4C-AE5D-846B09BD7E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4DCF088-4A50-3B44-AC70-A3CBCDFB2F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73580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8929743-7ED8-AD44-A4C7-57BA0503CF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C21204-CD5E-9B4A-975C-382619592633}" type="datetimeFigureOut">
              <a:rPr lang="en-US" smtClean="0"/>
              <a:t>5/1/23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3349C3E-D1A6-584D-8510-343F34E7F6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33134F-B930-834A-BE77-57F414E10E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4DCF088-4A50-3B44-AC70-A3CBCDFB2F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09763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9E4CDD-9054-3448-9F11-802C12D182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C57E3B-BE5F-3848-804A-40640AEBA3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F7273D1-6862-9746-9261-82A218498C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EB1FF2-4F5B-2545-AC68-BA65AA8229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C21204-CD5E-9B4A-975C-382619592633}" type="datetimeFigureOut">
              <a:rPr lang="en-US" smtClean="0"/>
              <a:t>5/1/23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396142-5873-484D-86CC-183AC41CB8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68D91B-A6C7-1A49-A6D6-8F8A11D47F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4DCF088-4A50-3B44-AC70-A3CBCDFB2F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94660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765208-80A7-8041-A062-E20B22CEE6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E17C45B-827B-AA4E-A67B-FD5B99A4F14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FA41343-603D-3D4B-B4B8-819203A90D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7F9A27-B10F-F340-8BD9-9D628A6B26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C21204-CD5E-9B4A-975C-382619592633}" type="datetimeFigureOut">
              <a:rPr lang="en-US" smtClean="0"/>
              <a:t>5/1/23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CB24C4-3E74-5247-ABC4-E074DDC2FF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269750-016F-B34F-9F5A-AC9B34004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4DCF088-4A50-3B44-AC70-A3CBCDFB2F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22293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B903A8-021D-1B49-9376-B4DA607D40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33C778F-A9C4-E24F-B25D-8880CCE870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92494A-641A-8A4A-8D77-A4B57EC002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C21204-CD5E-9B4A-975C-382619592633}" type="datetimeFigureOut">
              <a:rPr lang="en-US" smtClean="0"/>
              <a:t>5/1/23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E8E3B4-0A8F-C64B-A0E1-B2E0446C49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714194-87D8-2642-A8A1-334A02AE79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4DCF088-4A50-3B44-AC70-A3CBCDFB2F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19955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17CE579-C0CF-5C43-A922-BC6AD725913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B611964-0750-6946-92E8-C6D863FBA1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5865B9-17E1-C34D-B651-CDEE117BF3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C21204-CD5E-9B4A-975C-382619592633}" type="datetimeFigureOut">
              <a:rPr lang="en-US" smtClean="0"/>
              <a:t>5/1/23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E241F9-8632-0E4D-9EAC-F8A587B367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705DD3-0267-2F4A-8387-5272DCC27F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4DCF088-4A50-3B44-AC70-A3CBCDFB2F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162701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2673A33-28AF-E045-87F5-C581DC9A92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7420AC-C249-814E-834D-8C22C25C61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A3AF2A-F925-B043-A322-198B163517D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C21204-CD5E-9B4A-975C-382619592633}" type="datetimeFigureOut">
              <a:rPr lang="en-US" smtClean="0"/>
              <a:t>5/1/23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FCA802-3100-AB46-A99A-24FC5F58FCE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E1DB1BE-51A9-F041-A5F1-2CBDD0C85BDE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rcRect/>
          <a:stretch/>
        </p:blipFill>
        <p:spPr>
          <a:xfrm>
            <a:off x="9972922" y="6066606"/>
            <a:ext cx="1993437" cy="656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43582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The Effectiveness of Federated Learning in Seismic Interpretation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Carlos Marí · Ghassan AlRegib · OLIVES, Georgia Tech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32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400" b="1">
                <a:solidFill>
                  <a:srgbClr val="0B0B0B"/>
                </a:solidFill>
              </a:rPr>
              <a:t>Train together.</a:t>
            </a:r>
          </a:p>
          <a:p>
            <a:r>
              <a:rPr sz="3200">
                <a:solidFill>
                  <a:srgbClr val="2A78D6"/>
                </a:solidFill>
              </a:rPr>
              <a:t>Share no data.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Real partners hold real geography</a:t>
            </a:r>
          </a:p>
        </p:txBody>
      </p:sp>
      <p:pic>
        <p:nvPicPr>
          <p:cNvPr id="3" name="Picture 2" descr="g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5480" y="1828800"/>
            <a:ext cx="7941039" cy="3886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5879592"/>
            <a:ext cx="8168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>
                <a:solidFill>
                  <a:srgbClr val="52514E"/>
                </a:solidFill>
              </a:rPr>
              <a:t>Shuffled data: federated learning works. Real geography: it does not.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32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400" b="1">
                <a:solidFill>
                  <a:srgbClr val="0B0B0B"/>
                </a:solidFill>
              </a:rPr>
              <a:t>One facies went to zero.</a:t>
            </a:r>
          </a:p>
          <a:p>
            <a:r>
              <a:rPr sz="3200">
                <a:solidFill>
                  <a:srgbClr val="EB6834"/>
                </a:solidFill>
              </a:rPr>
              <a:t>Not degraded — absent.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32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400" b="1">
                <a:solidFill>
                  <a:srgbClr val="0B0B0B"/>
                </a:solidFill>
              </a:rPr>
              <a:t>The cause is absence,</a:t>
            </a:r>
          </a:p>
          <a:p>
            <a:r>
              <a:rPr sz="3200">
                <a:solidFill>
                  <a:srgbClr val="2A78D6"/>
                </a:solidFill>
              </a:rPr>
              <a:t>not drift.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we found since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Unpublished — submitted five months ago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failure is bimodal, not gradual</a:t>
            </a:r>
          </a:p>
        </p:txBody>
      </p:sp>
      <p:pic>
        <p:nvPicPr>
          <p:cNvPr id="3" name="Picture 2" descr="bistabi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8488" y="1828800"/>
            <a:ext cx="8775023" cy="3886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5879592"/>
            <a:ext cx="8168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>
                <a:solidFill>
                  <a:srgbClr val="52514E"/>
                </a:solidFill>
              </a:rPr>
              <a:t>Same code, same data, different seed — opposite outcome.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Recovering the gap, step by step</a:t>
            </a:r>
          </a:p>
        </p:txBody>
      </p:sp>
      <p:pic>
        <p:nvPicPr>
          <p:cNvPr id="3" name="Picture 2" descr="lad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1595" y="1828800"/>
            <a:ext cx="7528809" cy="3886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5879592"/>
            <a:ext cx="8168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>
                <a:solidFill>
                  <a:srgbClr val="52514E"/>
                </a:solidFill>
              </a:rPr>
              <a:t>About 39% of the gap to centralised, recovered.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32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400" b="1">
                <a:solidFill>
                  <a:srgbClr val="0B0B0B"/>
                </a:solidFill>
              </a:rPr>
              <a:t>Subtract the class prior.</a:t>
            </a:r>
          </a:p>
          <a:p>
            <a:r>
              <a:rPr sz="3200">
                <a:solidFill>
                  <a:srgbClr val="2A78D6"/>
                </a:solidFill>
              </a:rPr>
              <a:t>Three lines. No retraining.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 collapsed facies, brought back</a:t>
            </a:r>
          </a:p>
        </p:txBody>
      </p:sp>
      <p:pic>
        <p:nvPicPr>
          <p:cNvPr id="3" name="Picture 2" descr="resc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8952" y="1828800"/>
            <a:ext cx="6834096" cy="3886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5879592"/>
            <a:ext cx="8168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>
                <a:solidFill>
                  <a:srgbClr val="52514E"/>
                </a:solidFill>
              </a:rPr>
              <a:t>The published failure is partly reversible — for free.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hard to push depends on the model</a:t>
            </a:r>
          </a:p>
        </p:txBody>
      </p:sp>
      <p:pic>
        <p:nvPicPr>
          <p:cNvPr id="3" name="Picture 2" descr="ta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3526" y="1828800"/>
            <a:ext cx="7484948" cy="3886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5879592"/>
            <a:ext cx="8168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>
                <a:solidFill>
                  <a:srgbClr val="52514E"/>
                </a:solidFill>
              </a:rPr>
              <a:t>Gentle for a healthy model. Aggressive for a collapsed one.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Where we had been fooling ourselves</a:t>
            </a:r>
          </a:p>
        </p:txBody>
      </p:sp>
      <p:pic>
        <p:nvPicPr>
          <p:cNvPr id="3" name="Picture 2" descr="selection_bi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4849" y="1828800"/>
            <a:ext cx="9202302" cy="3886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5879592"/>
            <a:ext cx="8168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>
                <a:solidFill>
                  <a:srgbClr val="52514E"/>
                </a:solidFill>
              </a:rPr>
              <a:t>Our “most stable” configuration was the least stable.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It is not the normalisation</a:t>
            </a:r>
          </a:p>
        </p:txBody>
      </p:sp>
      <p:pic>
        <p:nvPicPr>
          <p:cNvPr id="3" name="Picture 2" descr="n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6982" y="1828800"/>
            <a:ext cx="7118035" cy="3886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5879592"/>
            <a:ext cx="8168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>
                <a:solidFill>
                  <a:srgbClr val="52514E"/>
                </a:solidFill>
              </a:rPr>
              <a:t>We tested the obvious fix directly. It is not the answer.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Three things to take away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8168640" cy="4023360"/>
          </a:xfrm>
        </p:spPr>
        <p:txBody>
          <a:bodyPr/>
          <a:lstStyle/>
          <a:p>
            <a:r>
              <a:rPr sz="3000"/>
              <a:t>Geography breaks federated seismic learning</a:t>
            </a:r>
          </a:p>
          <a:p>
            <a:r>
              <a:rPr sz="3000"/>
              <a:t>Rare-class failure is bistable, not noisy</a:t>
            </a:r>
          </a:p>
          <a:p>
            <a:r>
              <a:rPr sz="3000"/>
              <a:t>Part of the damage is reversible for free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983151A0-0F59-5448-A882-F4C81128194B}" vid="{5A781266-4899-C640-BFDA-DEA7B4D51CB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Lotti Bublitz</dc:creator>
  <cp:lastModifiedBy>Lotti Bublitz</cp:lastModifiedBy>
  <cp:revision>1</cp:revision>
  <dcterms:created xsi:type="dcterms:W3CDTF">2023-05-01T22:14:44Z</dcterms:created>
  <dcterms:modified xsi:type="dcterms:W3CDTF">2023-05-01T22:19:33Z</dcterms:modified>
</cp:coreProperties>
</file>